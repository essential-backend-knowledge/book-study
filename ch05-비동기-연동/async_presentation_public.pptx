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-1097280"/>
            <a:ext cx="5029200" cy="5029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560320"/>
            <a:ext cx="3657600" cy="3657600"/>
          </a:xfrm>
          <a:prstGeom prst="ellipse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858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</a:rPr>
              <a:t>CHAPTER 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비동기 연동,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B82F6"/>
                </a:solidFill>
              </a:rPr>
              <a:t>언제 어떻게 써야 할까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94360" y="28803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주니어 백엔드 개발자가 반드시 알아야 할 실무 지식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383280"/>
            <a:ext cx="25603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발표 자료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목  차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57200" cy="5120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749808"/>
            <a:ext cx="3566160" cy="512064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749808"/>
            <a:ext cx="3429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동기 연동과 비동기 연동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444752"/>
            <a:ext cx="457200" cy="5120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44752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1444752"/>
            <a:ext cx="3566160" cy="512064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444752"/>
            <a:ext cx="3429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별도 스레드로 실행하기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39696"/>
            <a:ext cx="457200" cy="5120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39696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2139696"/>
            <a:ext cx="3566160" cy="512064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139696"/>
            <a:ext cx="3429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메시징 (Kafka)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457200" cy="5120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834640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2834640"/>
            <a:ext cx="3566160" cy="512064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834640"/>
            <a:ext cx="3429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메시지 소비 처리 고려사항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29584"/>
            <a:ext cx="457200" cy="5120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529584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3529584"/>
            <a:ext cx="3566160" cy="512064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529584"/>
            <a:ext cx="3429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메시지 종류: 이벤트와 커맨드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749808"/>
            <a:ext cx="457200" cy="5120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49808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212080" y="749808"/>
            <a:ext cx="3657600" cy="512064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749808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트랜잭션 아웃박스 패턴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1444752"/>
            <a:ext cx="457200" cy="5120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444752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212080" y="1444752"/>
            <a:ext cx="3657600" cy="512064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1444752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배치 전송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2139696"/>
            <a:ext cx="457200" cy="5120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139696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212080" y="2139696"/>
            <a:ext cx="3657600" cy="512064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0" y="2139696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CDC (Change Data Capture)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63440" y="2834640"/>
            <a:ext cx="457200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834640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212080" y="2834640"/>
            <a:ext cx="3657600" cy="512064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0" y="2834640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실전 사례 8가지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63440" y="3529584"/>
            <a:ext cx="457200" cy="5120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529584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212080" y="3529584"/>
            <a:ext cx="3657600" cy="512064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0" y="3529584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비동기 방식 선택 가이드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  동기 연동과 비동기 연동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3931920" cy="4114800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3931920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4980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동기 연동 — 직관적이지만 결합도가 높다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188720"/>
            <a:ext cx="3657600" cy="203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61872"/>
            <a:ext cx="3474720" cy="188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boolean login(String id, String pw)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User user = findUser(id);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if (!user.matchPassword(pw)) return false;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// 알림 서비스를 동기로 호출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// 여기서 막히면 로그인 전체가 막힌다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NotifyResult result = notificationClient.sendWelcomeMessage(id);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if (result.isFailed()) throw new NotifyException();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appendLoginHistory(id);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return true;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" y="3292112"/>
            <a:ext cx="36576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33835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문제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3639584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알림 서비스가 느려지면 로그인도 느려진다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알림 전송은 부가 기능인데, 부가 기능이 핵심 기능을 막음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두 팀이 독립적으로 배포할 수 없음 — 강하게 결합(tight coupling)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749808"/>
            <a:ext cx="4206240" cy="4114800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749808"/>
            <a:ext cx="420624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749808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비동기 연동 — 핵심과 부가를 분리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73168" y="1188720"/>
            <a:ext cx="393192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261872"/>
            <a:ext cx="374904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[사용자] → [로그인 서비스] → 즉시 응답 "로그인 성공"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├─ (나중에, 별도로) → [알림 서비스]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└─ (나중에, 별도로) → [이력 저장 서비스]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73168" y="22677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로그인 응답 시간에서 알림·이력 처리가 제거됨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73168" y="2596896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773168" y="26883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장점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73168" y="294436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알림 서비스 장애가 나도 로그인은 정상 동작 — 장애 격리(Fault Isolation)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97316"/>
                </a:solidFill>
              </a:rPr>
              <a:t>단, 비동기로 분리한 작업은 일시적 불일치(Eventual Consistency) 허용이 전제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73168" y="3840480"/>
            <a:ext cx="3931920" cy="1005840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73168" y="3840480"/>
            <a:ext cx="64008" cy="1005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4956048" y="3913632"/>
            <a:ext cx="3675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언제 비동기를 선택할까?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56048" y="4279392"/>
            <a:ext cx="36758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핵심 기능 완료 후 부가 처리가 가능한 경우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수신자가 여럿이거나 나중에 늘어날 수 있는 경우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처리 실패가 핵심 흐름에 영향을 줘선 안 되는 경우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  별도 스레드로 실행하기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60520" cy="2286000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64008" cy="2286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3904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@Async — 가장 간단한 비동기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143000"/>
            <a:ext cx="393192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16152"/>
            <a:ext cx="374904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@Async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sendPush(PushData pushData)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이 메서드는 호출 즉시 반환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실제 실행은 별도 스레드에서 진행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2203704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@EnableAsync + @Async 조합만으로 메서드를 비동기로 만들 수 있다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97316"/>
                </a:solidFill>
              </a:rPr>
              <a:t>주의: 같은 클래스 내부에서 this.sendPush()처럼 직접 호출하면 @Async가 동작하지 않는다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→ Spring 프록시를 통해 처리 — 내부 호출은 프록시를 거치지 않기 때문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749808"/>
            <a:ext cx="4206240" cy="2286000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749808"/>
            <a:ext cx="64008" cy="2286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822960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스레드 풀 — 스레드를 재사용한다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73168" y="1143000"/>
            <a:ext cx="393192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216152"/>
            <a:ext cx="3749040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ThreadPoolTaskExecutor taskExecutor()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var exec = new ThreadPoolTaskExecutor();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exec.setCorePoolSize(5);   // 평소 유지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exec.setMaxPoolSize(10);   // 급증 시 최대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exec.setWaitForTasksToCompleteOnShutdown(true);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exec;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73168" y="271576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요청마다 new Thread() 생성은 비용이 크다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→ 스레드 풀에서 재사용해 오버헤드를 줄인다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145536"/>
            <a:ext cx="8595360" cy="1920240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145536"/>
            <a:ext cx="64008" cy="1920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18688"/>
            <a:ext cx="8339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CompletableFuture — 결과가 필요한 비동기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" y="3538728"/>
            <a:ext cx="8321040" cy="1417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611880"/>
            <a:ext cx="8138160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@Async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CompletableFuture&lt;String&gt; processAsync()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CompletableFuture.completedFuture(heavyWork());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호출부: 다른 일을 하다가 필요한 시점에 결과를 가져옴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CompletableFuture&lt;String&gt; future = service.processAsync();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doOtherWork();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result = future.get(); // 이 시점에 기다림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  메시징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3840480" cy="2331720"/>
          </a:xfrm>
          <a:prstGeom prst="rect">
            <a:avLst/>
          </a:prstGeom>
          <a:solidFill>
            <a:srgbClr val="1E2A3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8046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직접 연동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143000"/>
            <a:ext cx="3566160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16152"/>
            <a:ext cx="338328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[주문 서비스] → 직접 HTTP 호출 → [알림 서비스]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           → [재고 서비스]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           → [통계 서비스]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20299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주문 서비스가 알림/재고/통계를 다 알아야 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하나가 죽으면 주문도 실패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2560320"/>
            <a:ext cx="3566160" cy="457200"/>
          </a:xfrm>
          <a:prstGeom prst="rect">
            <a:avLst/>
          </a:prstGeom>
          <a:solidFill>
            <a:srgbClr val="2A152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560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강한 결합 → 장애 전파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749808"/>
            <a:ext cx="4206240" cy="2331720"/>
          </a:xfrm>
          <a:prstGeom prst="rect">
            <a:avLst/>
          </a:prstGeom>
          <a:solidFill>
            <a:srgbClr val="1E2A3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8046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메시지 시스템 도입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73168" y="1143000"/>
            <a:ext cx="384048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216152"/>
            <a:ext cx="41000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[주문 서비스] → 메시지 발행 → [Kafka]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  ↓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[알림 서비스] [재고 서비스] [통계 서비스]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(각자 독립적으로 소비)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73168" y="212140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주문 서비스는 Kafka에 메시지만 넣으면 끝 — 수신자가 누군지 몰라도 됨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</a:rPr>
              <a:t>알림 서비스가 잠깐 죽어도 메시지는 Kafka에 보관됨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0B981"/>
                </a:solidFill>
              </a:rPr>
              <a:t>수신자를 추가해도 주문 서비스 코드를 수정할 필요가 없음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73168" y="2980944"/>
            <a:ext cx="3840480" cy="457200"/>
          </a:xfrm>
          <a:prstGeom prst="rect">
            <a:avLst/>
          </a:prstGeom>
          <a:solidFill>
            <a:srgbClr val="0D2A1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298094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느슨한 결합 → 장애 격리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35478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메시지 시스템 유형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858768"/>
          <a:ext cx="8595360" cy="118872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566160"/>
              </a:tblGrid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예시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특징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메시지 브로커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RabbitMQ, ActiveMQ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소비 후 메시지 삭제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이벤트 스트리밍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Kafka, AWS Kinesis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로그처럼 보관, 재처리 가능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클라우드 MQ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AWS SQS, GCP Pub/Sub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인프라 없이 사용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  메시지 소비 처리 고려사항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2359152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64008" cy="2359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0467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중복 처리 방지 — 멱등성(Idempotency)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521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메시지는 적어도 한 번(at-least-once) 전달이 보장된다 → 네트워크 오류 등으로 같은 메시지가 두 번 올 수 있다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1426464"/>
            <a:ext cx="8321040" cy="1664480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99616"/>
            <a:ext cx="8138160" cy="151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위험: 중복 수신 시 두 번 INSERT됨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@KafkaListener(topics = "order-created")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handle(String message)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orderRepository.insert(parseOrder(message)); // 중복이면 에러 or 데이터 오염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안전: UPSERT — 있으면 업데이트, 없으면 삽입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@KafkaListener(topics = "order-created")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handle(String message)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orderRepository.upsert(parseOrder(message)); // 몇 번 와도 결과 동일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3200400"/>
            <a:ext cx="4114800" cy="1261872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3200400"/>
            <a:ext cx="64008" cy="12618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273552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순서 보장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39312"/>
            <a:ext cx="3858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Kafka는 파티션 내부 순서만 보장한다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파티션이 여러 개이거나 Consumer가 여러 개면 순서가 섞일 수 있음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→ 순서가 중요한 데이터는 같은 파티션 키 사용 (예: 사용자 ID를 키로)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3200400"/>
            <a:ext cx="4297680" cy="1261872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3200400"/>
            <a:ext cx="64008" cy="12618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32552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Consumer 그룹으로 동일 이벤트를 여러 시스템에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81728" y="3584448"/>
            <a:ext cx="4114800" cy="749808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3657600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[Kafka: "주문-완료" 토픽]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↓                    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[Consumer Group A]  [Consumer Group B]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재고 서비스          알림 서비스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(독립적으로 소비)    (독립적으로 소비)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43708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새 시스템이 늘어나도 기존 코드 수정 없음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  메시지 종류: 이벤트와 커맨드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3931920" cy="2203120"/>
          </a:xfrm>
          <a:prstGeom prst="rect">
            <a:avLst/>
          </a:prstGeom>
          <a:solidFill>
            <a:srgbClr val="1E2A3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393192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4980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이벤트 (Event) — "이런 일이 일어났다"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188720"/>
            <a:ext cx="3657600" cy="1051560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61872"/>
            <a:ext cx="347472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"주문이 완료됐다"는 사실만 담음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OrderCompletedEvent event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new OrderCompletedEvent(orderId, customerId);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eventPublisher.publishEvent(event);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발행자는 누가 이걸 받아서 뭘 하는지 모름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2304288"/>
            <a:ext cx="3749040" cy="6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수신자가 여럿이어도 됨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새로운 수신자가 생겨도 발행자 코드를 수정하지 않아도 됨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06B6D4"/>
                </a:solidFill>
              </a:rPr>
              <a:t>느슨한 결합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749808"/>
            <a:ext cx="4206240" cy="2103120"/>
          </a:xfrm>
          <a:prstGeom prst="rect">
            <a:avLst/>
          </a:prstGeom>
          <a:solidFill>
            <a:srgbClr val="1E2A3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749808"/>
            <a:ext cx="4206240" cy="4023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749808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커맨드 (Command) — "이것을 해라"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73168" y="1188720"/>
            <a:ext cx="3931920" cy="777240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261872"/>
            <a:ext cx="374904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"이 사용자에게 포인트를 줘라"는 지시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pointService.givePoint(userId, 100);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발행자가 수신자의 동작을 명확히 알고 지시함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73168" y="202996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수신자가 하나로 명확함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의도가 분명하고 결과를 바로 확인할 수 있음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97316"/>
                </a:solidFill>
              </a:rPr>
              <a:t>강한 결합이지만 명확성이 높음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96265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언제 무엇을 쓸까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291840"/>
          <a:ext cx="8595360" cy="1719072"/>
        </p:xfrm>
        <a:graphic>
          <a:graphicData uri="http://schemas.openxmlformats.org/drawingml/2006/table">
            <a:tbl>
              <a:tblPr/>
              <a:tblGrid>
                <a:gridCol w="2560320"/>
                <a:gridCol w="3017520"/>
                <a:gridCol w="3017520"/>
              </a:tblGrid>
              <a:tr h="343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B6D4"/>
                          </a:solidFill>
                        </a:rPr>
                        <a:t>이벤트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97316"/>
                          </a:solidFill>
                        </a:rPr>
                        <a:t>커맨드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</a:tr>
              <a:tr h="343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E8F0"/>
                          </a:solidFill>
                        </a:rPr>
                        <a:t>결합도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</a:rPr>
                        <a:t>낮음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높음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</a:tr>
              <a:tr h="343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E8F0"/>
                          </a:solidFill>
                        </a:rPr>
                        <a:t>수신자 수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여럿 가능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보통 하나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</a:tr>
              <a:tr h="343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E8F0"/>
                          </a:solidFill>
                        </a:rPr>
                        <a:t>의도 명확성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낮음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</a:rPr>
                        <a:t>높음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</a:tr>
              <a:tr h="343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E8F0"/>
                          </a:solidFill>
                        </a:rPr>
                        <a:t>적합한 상황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여러 시스템에 변화 전파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특정 작업을 직접 요청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  트랜잭션 아웃박스 패턴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3931920" cy="1920240"/>
          </a:xfrm>
          <a:prstGeom prst="rect">
            <a:avLst/>
          </a:prstGeom>
          <a:solidFill>
            <a:srgbClr val="1E2A3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8046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[ 문제 ]  DB 저장 성공 + 메시지 발행 실패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133856"/>
            <a:ext cx="3657600" cy="1417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07008"/>
            <a:ext cx="3474720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[서비스]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├─ DB에 주문 저장  ← 성공 (트랜잭션 커밋됨)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└─ Kafka 메시지 발행 ← 실패 (네트워크 오류)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결과: DB에는 주문이 있는데,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알림/재고 서비스는 이 주문을 모름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749808"/>
            <a:ext cx="4206240" cy="1920240"/>
          </a:xfrm>
          <a:prstGeom prst="rect">
            <a:avLst/>
          </a:prstGeom>
          <a:solidFill>
            <a:srgbClr val="1E2A3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8046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[ 해결 ]  메시지도 DB에 함께 저장한다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73168" y="1133856"/>
            <a:ext cx="3931920" cy="1417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207008"/>
            <a:ext cx="3749040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[서비스] — 하나의 트랜잭션 안에서 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├─ DB에 주문 저장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└─ DB의 아웃박스 테이블에 "발송 대기" 메시지 저장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[별도 전송기] — 주기적으로 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├─ 아웃박스에서 "발송 대기" 메시지 조회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├─ Kafka로 발행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└─ 성공 시 "발송 완료"로 상태 변경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761488"/>
            <a:ext cx="859536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6148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 xml:space="preserve">핵심: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메시지를 DB 트랜잭션 안에 함께 저장하기 때문에 주문 저장과 메시지 등록은 항상 같이 성공하거나 같이 실패함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3284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아웃박스 테이블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621024"/>
            <a:ext cx="5349240" cy="1417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694176"/>
            <a:ext cx="5166360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outbox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id          INT PRIMARY KEY,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messageType VARCHAR(100),   -- 어떤 종류의 메시지인지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payload     TEXT,           -- 메시지 내용 (JSON)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status      VARCHAR(20),    -- WAITING / DONE / FAILED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failCount   INT,            -- 실패 횟수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createdAt   TIMESTAMP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06440" y="3621024"/>
            <a:ext cx="3063240" cy="1417320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3621024"/>
            <a:ext cx="64008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5989320" y="36758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status 흐름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89320" y="4005072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↓ 전송기가 발행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  (성공)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 (실패, failCount++)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07  배치 전송</a:t>
            </a:r>
          </a:p>
        </p:txBody>
      </p:sp>
      <p:sp>
        <p:nvSpPr>
          <p:cNvPr id="4" name="Text 2"/>
          <p:cNvSpPr/>
          <p:nvPr/>
        </p:nvSpPr>
        <p:spPr>
          <a:xfrm>
            <a:off x="365760" y="660000"/>
            <a:ext cx="841248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메시징 시스템 없이 파일 기반으로 일정 간격 데이터를 전달하는 전통적인 비동기 연동 방식</a:t>
            </a:r>
          </a:p>
        </p:txBody>
      </p:sp>
      <p:sp>
        <p:nvSpPr>
          <p:cNvPr id="5" name="Shape 3"/>
          <p:cNvSpPr/>
          <p:nvPr/>
        </p:nvSpPr>
        <p:spPr>
          <a:xfrm>
            <a:off x="274320" y="990000"/>
            <a:ext cx="5303520" cy="310000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</a:ln>
        </p:spPr>
      </p:sp>
      <p:sp>
        <p:nvSpPr>
          <p:cNvPr id="6" name="Text 4"/>
          <p:cNvSpPr/>
          <p:nvPr/>
        </p:nvSpPr>
        <p:spPr>
          <a:xfrm>
            <a:off x="411480" y="990000"/>
            <a:ext cx="5120640" cy="3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동작 과정</a:t>
            </a:r>
          </a:p>
        </p:txBody>
      </p:sp>
      <p:sp>
        <p:nvSpPr>
          <p:cNvPr id="7" name="Shape 5"/>
          <p:cNvSpPr/>
          <p:nvPr/>
        </p:nvSpPr>
        <p:spPr>
          <a:xfrm>
            <a:off x="274320" y="1340000"/>
            <a:ext cx="5303520" cy="1000000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</a:ln>
        </p:spPr>
      </p:sp>
      <p:sp>
        <p:nvSpPr>
          <p:cNvPr id="8" name="Text 6"/>
          <p:cNvSpPr/>
          <p:nvPr/>
        </p:nvSpPr>
        <p:spPr>
          <a:xfrm>
            <a:off x="365760" y="1376000"/>
            <a:ext cx="5120640" cy="96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</a:rPr>
              <a:t>[배치 생성 시스템]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</a:rPr>
              <a:t xml:space="preserve">  1. DB에서 데이터 조회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</a:rPr>
              <a:t xml:space="preserve">  2. 파일 변환 후 스토리지(FTP) 업로드</a:t>
            </a:r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</a:rPr>
              <a:t>[배치 처리 시스템]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</a:rPr>
              <a:t xml:space="preserve">  3. 스토리지에서 파일 가져오기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</a:rPr>
              <a:t xml:space="preserve">  4. 파일 읽어 처리</a:t>
            </a:r>
          </a:p>
        </p:txBody>
      </p:sp>
      <p:sp>
        <p:nvSpPr>
          <p:cNvPr id="9" name="Shape 7"/>
          <p:cNvSpPr/>
          <p:nvPr/>
        </p:nvSpPr>
        <p:spPr>
          <a:xfrm>
            <a:off x="274320" y="2390000"/>
            <a:ext cx="5303520" cy="310000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</a:ln>
        </p:spPr>
      </p:sp>
      <p:sp>
        <p:nvSpPr>
          <p:cNvPr id="10" name="Text 8"/>
          <p:cNvSpPr/>
          <p:nvPr/>
        </p:nvSpPr>
        <p:spPr>
          <a:xfrm>
            <a:off x="411480" y="2390000"/>
            <a:ext cx="5120640" cy="3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파일 형식</a:t>
            </a:r>
          </a:p>
        </p:txBody>
      </p:sp>
      <p:sp>
        <p:nvSpPr>
          <p:cNvPr id="11" name="Shape 9"/>
          <p:cNvSpPr/>
          <p:nvPr/>
        </p:nvSpPr>
        <p:spPr>
          <a:xfrm>
            <a:off x="274320" y="2740000"/>
            <a:ext cx="5303520" cy="700000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</a:ln>
        </p:spPr>
      </p:sp>
      <p:sp>
        <p:nvSpPr>
          <p:cNvPr id="12" name="Text 10"/>
          <p:cNvSpPr/>
          <p:nvPr/>
        </p:nvSpPr>
        <p:spPr>
          <a:xfrm>
            <a:off x="365760" y="2776000"/>
            <a:ext cx="5120640" cy="66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</a:rPr>
              <a:t># 구분자 기반 텍스트 (탭, 파이프 등)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</a:rPr>
              <a:t>주문ID|상품명|금액|일시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</a:rPr>
              <a:t>1001|노트북|1500000|2026-03-15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</a:rPr>
              <a:t>TOTAL|2  ← 마지막에 건수 포함 (누락 확인용)</a:t>
            </a:r>
          </a:p>
        </p:txBody>
      </p:sp>
      <p:sp>
        <p:nvSpPr>
          <p:cNvPr id="13" name="Shape 11"/>
          <p:cNvSpPr/>
          <p:nvPr/>
        </p:nvSpPr>
        <p:spPr>
          <a:xfrm>
            <a:off x="274320" y="3490000"/>
            <a:ext cx="5303520" cy="310000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</a:ln>
        </p:spPr>
      </p:sp>
      <p:sp>
        <p:nvSpPr>
          <p:cNvPr id="14" name="Text 12"/>
          <p:cNvSpPr/>
          <p:nvPr/>
        </p:nvSpPr>
        <p:spPr>
          <a:xfrm>
            <a:off x="411480" y="3490000"/>
            <a:ext cx="5120640" cy="3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시간 기반 조회 설계</a:t>
            </a:r>
          </a:p>
        </p:txBody>
      </p:sp>
      <p:sp>
        <p:nvSpPr>
          <p:cNvPr id="15" name="Text 13"/>
          <p:cNvSpPr/>
          <p:nvPr/>
        </p:nvSpPr>
        <p:spPr>
          <a:xfrm>
            <a:off x="274320" y="3840000"/>
            <a:ext cx="5303520" cy="720000"/>
          </a:xfrm>
          <a:prstGeom prst="rect">
            <a:avLst/>
          </a:prstGeom>
          <a:solidFill>
            <a:srgbClr val="1A2840"/>
          </a:solidFill>
          <a:ln w="12700">
            <a:solidFill>
              <a:srgbClr val="2A3B55"/>
            </a:solidFill>
          </a:ln>
        </p:spPr>
      </p:sp>
      <p:sp>
        <p:nvSpPr>
          <p:cNvPr id="16" name="Text 14"/>
          <p:cNvSpPr/>
          <p:nvPr/>
        </p:nvSpPr>
        <p:spPr>
          <a:xfrm>
            <a:off x="365760" y="3876000"/>
            <a:ext cx="5120640" cy="68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① 마지막 전송 시간 기록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② 다음 전송 시 마지막 시간 이후 변경 데이터 조회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③ 파일로 만들어 전달 후 시간 기록</a:t>
            </a:r>
          </a:p>
          <a:p>
            <a:pPr indent="0" marL="0">
              <a:buNone/>
            </a:pPr>
            <a:r>
              <a:rPr lang="en-US" sz="950" i="1" dirty="0">
                <a:solidFill>
                  <a:srgbClr val="F59E0B"/>
                </a:solidFill>
              </a:rPr>
              <a:t>※ 경계값 처리 주의 — 변경 시점과 파일 생성 시점 간 차이 발생 가능</a:t>
            </a:r>
          </a:p>
        </p:txBody>
      </p:sp>
      <p:sp>
        <p:nvSpPr>
          <p:cNvPr id="17" name="Shape 15"/>
          <p:cNvSpPr/>
          <p:nvPr/>
        </p:nvSpPr>
        <p:spPr>
          <a:xfrm>
            <a:off x="5760720" y="990000"/>
            <a:ext cx="3109680" cy="310000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</a:ln>
        </p:spPr>
      </p:sp>
      <p:sp>
        <p:nvSpPr>
          <p:cNvPr id="18" name="Text 16"/>
          <p:cNvSpPr/>
          <p:nvPr/>
        </p:nvSpPr>
        <p:spPr>
          <a:xfrm>
            <a:off x="5852160" y="990000"/>
            <a:ext cx="3018240" cy="3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운영 포인트</a:t>
            </a:r>
          </a:p>
        </p:txBody>
      </p:sp>
      <p:sp>
        <p:nvSpPr>
          <p:cNvPr id="19" name="Bar1"/>
          <p:cNvSpPr/>
          <p:nvPr/>
        </p:nvSpPr>
        <p:spPr>
          <a:xfrm>
            <a:off x="5760720" y="1340000"/>
            <a:ext cx="3109680" cy="54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Card1"/>
          <p:cNvSpPr/>
          <p:nvPr/>
        </p:nvSpPr>
        <p:spPr>
          <a:xfrm>
            <a:off x="5760720" y="1394000"/>
            <a:ext cx="3109680" cy="560000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</a:ln>
        </p:spPr>
      </p:sp>
      <p:sp>
        <p:nvSpPr>
          <p:cNvPr id="21" name="CardText1"/>
          <p:cNvSpPr/>
          <p:nvPr/>
        </p:nvSpPr>
        <p:spPr>
          <a:xfrm>
            <a:off x="5852160" y="1410000"/>
            <a:ext cx="2926080" cy="5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장애 감지</a:t>
            </a:r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처리 시스템이 죽으면 파일만 쌓임</a:t>
            </a:r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→ 정기 모니터링 필수</a:t>
            </a:r>
          </a:p>
        </p:txBody>
      </p:sp>
      <p:sp>
        <p:nvSpPr>
          <p:cNvPr id="22" name="Bar2"/>
          <p:cNvSpPr/>
          <p:nvPr/>
        </p:nvSpPr>
        <p:spPr>
          <a:xfrm>
            <a:off x="5760720" y="2004000"/>
            <a:ext cx="3109680" cy="54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Card2"/>
          <p:cNvSpPr/>
          <p:nvPr/>
        </p:nvSpPr>
        <p:spPr>
          <a:xfrm>
            <a:off x="5760720" y="2058000"/>
            <a:ext cx="3109680" cy="560000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</a:ln>
        </p:spPr>
      </p:sp>
      <p:sp>
        <p:nvSpPr>
          <p:cNvPr id="24" name="CardText2"/>
          <p:cNvSpPr/>
          <p:nvPr/>
        </p:nvSpPr>
        <p:spPr>
          <a:xfrm>
            <a:off x="5852160" y="2074000"/>
            <a:ext cx="2926080" cy="5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데이터 정합성</a:t>
            </a:r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파일에 건수 포함 또는</a:t>
            </a:r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체크섬으로 누락/중복 확인</a:t>
            </a:r>
          </a:p>
        </p:txBody>
      </p:sp>
      <p:sp>
        <p:nvSpPr>
          <p:cNvPr id="25" name="Bar3"/>
          <p:cNvSpPr/>
          <p:nvPr/>
        </p:nvSpPr>
        <p:spPr>
          <a:xfrm>
            <a:off x="5760720" y="2668000"/>
            <a:ext cx="3109680" cy="54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Card3"/>
          <p:cNvSpPr/>
          <p:nvPr/>
        </p:nvSpPr>
        <p:spPr>
          <a:xfrm>
            <a:off x="5760720" y="2722000"/>
            <a:ext cx="3109680" cy="560000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</a:ln>
        </p:spPr>
      </p:sp>
      <p:sp>
        <p:nvSpPr>
          <p:cNvPr id="27" name="CardText3"/>
          <p:cNvSpPr/>
          <p:nvPr/>
        </p:nvSpPr>
        <p:spPr>
          <a:xfrm>
            <a:off x="5852160" y="2738000"/>
            <a:ext cx="2926080" cy="5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재처리</a:t>
            </a:r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실패 시 특정 건만 재전송할</a:t>
            </a:r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API 또는 배치를 미리 준비</a:t>
            </a:r>
          </a:p>
        </p:txBody>
      </p:sp>
      <p:sp>
        <p:nvSpPr>
          <p:cNvPr id="28" name="Bar4"/>
          <p:cNvSpPr/>
          <p:nvPr/>
        </p:nvSpPr>
        <p:spPr>
          <a:xfrm>
            <a:off x="5760720" y="3332000"/>
            <a:ext cx="3109680" cy="54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Card4"/>
          <p:cNvSpPr/>
          <p:nvPr/>
        </p:nvSpPr>
        <p:spPr>
          <a:xfrm>
            <a:off x="5760720" y="3386000"/>
            <a:ext cx="3109680" cy="560000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</a:ln>
        </p:spPr>
      </p:sp>
      <p:sp>
        <p:nvSpPr>
          <p:cNvPr id="30" name="CardText4"/>
          <p:cNvSpPr/>
          <p:nvPr/>
        </p:nvSpPr>
        <p:spPr>
          <a:xfrm>
            <a:off x="5852160" y="3402000"/>
            <a:ext cx="2926080" cy="5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</a:rPr>
              <a:t>실시간성 한계</a:t>
            </a:r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배치 주기(예: 1시간)보다</a:t>
            </a:r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빠른 반영이 필요하면 부적합</a:t>
            </a:r>
          </a:p>
        </p:txBody>
      </p:sp>
      <p:sp>
        <p:nvSpPr>
          <p:cNvPr id="31" name="Shape 29"/>
          <p:cNvSpPr/>
          <p:nvPr/>
        </p:nvSpPr>
        <p:spPr>
          <a:xfrm>
            <a:off x="274320" y="4650000"/>
            <a:ext cx="8595360" cy="230000"/>
          </a:xfrm>
          <a:prstGeom prst="rect">
            <a:avLst/>
          </a:prstGeom>
          <a:solidFill>
            <a:srgbClr val="1A2840"/>
          </a:solidFill>
          <a:ln w="12700">
            <a:solidFill>
              <a:srgbClr val="2A3B55"/>
            </a:solidFill>
          </a:ln>
        </p:spPr>
      </p:sp>
      <p:sp>
        <p:nvSpPr>
          <p:cNvPr id="32" name="Text 30"/>
          <p:cNvSpPr/>
          <p:nvPr/>
        </p:nvSpPr>
        <p:spPr>
          <a:xfrm>
            <a:off x="365760" y="4654000"/>
            <a:ext cx="8412480" cy="22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 xml:space="preserve">Tip  DB 공유 또는 API 직접 호출 방식도 있지만, 시스템 간 결합도가 높아질 수 있음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08  CDC (Change Data Capture)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6809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DB 변경을 코드 없이 감지한다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5214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[DB] — redo log / binlog —→ [Debezium 등 CDC 에이전트] → [Kafka] → [소비 시스템들]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INSERT / UPDATE / DELETE가 발생할 때 애플리케이션 코드를 수정하지 않아도 이벤트가 흐른다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029968"/>
            <a:ext cx="5212080" cy="2148840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029968"/>
            <a:ext cx="64008" cy="2148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848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CDC가 빛나는 상황: 레거시 연동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423160"/>
            <a:ext cx="4937760" cy="804672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496312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[신규 주문 시스템]  ─┐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 ├─→ [CDC] → [Kafka] → [타겟 시스템 A]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[레거시 주문 시스템] ─┘                  → [타겟 시스템 B]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레거시 코드를 한 줄도 건드리지 않고 다른 시스템과 데이터 동기화 가능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신규 시스템과 레거시 시스템의 DB 변경을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하나의 CDC 파이프라인으로 통합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2029968"/>
            <a:ext cx="3200400" cy="2148840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0" y="2029968"/>
            <a:ext cx="64008" cy="2148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0" y="208483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CDC의 한계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242316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DB 내부 로그 포맷에 의존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→ DBMS 버전 업그레이드 시 주의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</a:rPr>
              <a:t>스키마 변경(컬럼 추가/삭제)에 민감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약간의 지연 존재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(실시간 수준이지만 진짜 즉시는 아님)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279392"/>
            <a:ext cx="8595360" cy="749808"/>
          </a:xfrm>
          <a:prstGeom prst="rect">
            <a:avLst/>
          </a:prstGeom>
          <a:solidFill>
            <a:srgbClr val="1A284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279392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배치 전송 vs CDC: 배치는 주기적으로 DB를 폴링해서 처리, CDC는 DB 변경이 발생하는 즉시 이벤트가 흐른다.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둘 다 애플리케이션 코드 변경 없이 데이터 흐름을 만들 수 있다는 공통점이 있지만 실시간성과 운영 복잡도가 다르다.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8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-1097280"/>
            <a:ext cx="6400800" cy="6400800"/>
          </a:xfrm>
          <a:prstGeom prst="ellipse">
            <a:avLst/>
          </a:prstGeom>
          <a:solidFill>
            <a:srgbClr val="141B2D"/>
          </a:solidFill>
          <a:ln w="12700">
            <a:solidFill>
              <a:srgbClr val="141B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</a:rPr>
              <a:t>SECTION 09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719072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실무에서 만난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9E0B"/>
                </a:solidFill>
              </a:rPr>
              <a:t>실전 사례 8가지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822960" y="3364992"/>
            <a:ext cx="29260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566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1. 대용량 CSV 리포트 생성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37760" y="3566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2. 계약 만료 사전 알림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9136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3. 회원 가입 후 외부 시스템 연동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37760" y="39136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4. 리소스 생성 실패 시 외부 시스템 정리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2611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5. 상품 재고 변경 이벤트 수신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42611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6. 사용자 정보 변경 이벤트 처리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460857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7. 외부 약관 동의 이벤트 처리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460857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8. 대용량 배치 Kafka 트리거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사례 1  대용량 CSV 리포트 생성 — @Async + 상태 폴링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530352"/>
          </a:xfrm>
          <a:prstGeom prst="rect">
            <a:avLst/>
          </a:prstGeom>
          <a:solidFill>
            <a:srgbClr val="1A2840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49808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상황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74980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운영 담당자가 사용자별 주문 통계를 CSV로 다운로드 요청. 수만 건 DB 집계 + 수십 개 컬럼 → 수 분 소요 → HTTP 타임아웃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8595360" cy="1993392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26464"/>
            <a:ext cx="8412480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[담당자 요청]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[API 서버] → DB에 작업 등록 (상태: 진행 중)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→ @Async 메서드 호출 후 즉시 응답 반환 ("접수됐습니다")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↓ (별도 스레드에서 진행)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→ DB 대용량 쿼리 (Cursor로 스트리밍, OOM 방지)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→ CSV 파일 생성 (EUC-KR 인코딩 — Excel 호환)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→ 파일 서버(Object Storage)에 업로드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→ DB 작업 상태를 "완료"로 업데이트 (파일 경로 함께 저장)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→ 실패 시 "실패"로 업데이트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[담당자] → 주기적으로 상태 조회 API 호출 → 완료 시 파일 다운로드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3419856"/>
            <a:ext cx="85953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3511296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핵심 포인트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3785616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 xml:space="preserve">결과를 HTTP 응답이 아닌 DB 상태로 전달한다.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CompletableFuture.get()으로 기다리는 대신, 작업 상태를 DB에 저장하고 클라이언트가 폴링. 파일이 수십 MB가 될 수 있어 HTTP 응답으로 직접 전달하기 어렵기 때문.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" y="4279392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</a:rPr>
              <a:t xml:space="preserve">@Async + @Transactional 조합 주의.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@Async로 별도 스레드에서 실행되면 호출자의 트랜잭션과 완전히 분리된 새 트랜잭션이 시작된다. Cursor 스트리밍 조회는 트랜잭션 유지가 필요. 비동기 내 예외는 호출자에 전파되지 않으므로 반드시 try-catch + 상태 업데이트로 실패를 기록해야 한다.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사례 2  구독 만료 사전 알림 — 스케줄러 + 커서 기반 처리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621792"/>
          </a:xfrm>
          <a:prstGeom prst="rect">
            <a:avLst/>
          </a:prstGeom>
          <a:solidFill>
            <a:srgbClr val="1A2840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49808"/>
            <a:ext cx="685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상황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749808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사용자 구독 계약이 수만 건. 만료 7일 전에 회원에게 이메일과 문자를 발송해야 함.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스케줄러가 매일 한 번 실행. 수만 건을 한 번에 메모리에 올리지 않고 10건씩 잘라서 반복 처리한다.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5120640" cy="3273552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17904"/>
            <a:ext cx="4937760" cy="3127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[스케줄러 실행]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11건 조회 (10 + 1) → 11건이면 다음 페이지 있음, 10건 이하면 마지막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10건 처리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각 구독 건마다: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 회원 정보 조회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 구독 플랜 정보 조회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 이메일 발송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 문자(SMS) 발송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 실패해도 continue → 다음 계약 처리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마지막으로 처리한 계약 ID를 커서로 저장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10건 조회 → 반복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77840" y="1444752"/>
            <a:ext cx="3291840" cy="1572768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1444752"/>
            <a:ext cx="64008" cy="15727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149961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커서 기반 페이징 원리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1847088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마지막 처리 ID를 커서로 저장하여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다음 번에 이어서 처리한다.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OFFSET 방식 대비 대용량에 안전하다.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77840" y="3127248"/>
            <a:ext cx="3291840" cy="1591056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3127248"/>
            <a:ext cx="64008" cy="15910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0" y="318211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개별 실패가 전체를 막으면 안 된다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0" y="3529584"/>
            <a:ext cx="30175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특정 회원 이메일이 없거나 외부 발송 서비스가 일시 장애이면 그 건만 실패로 로그를 남기고 나머지는 계속 처리.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배치의 핵심은 "몇 건이 실패했더라도 나머지는 모두 처리됐다"는 보장이다.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사례 3  회원 가입 완료 후 외부 시스템 연동 — @TransactionalEventListener (AFTER_COMMIT)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75488"/>
          </a:xfrm>
          <a:prstGeom prst="rect">
            <a:avLst/>
          </a:prstGeom>
          <a:solidFill>
            <a:srgbClr val="1A2840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49808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상황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749808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회원 가입 시 포인트/정산 시스템(외부)에도 계정 정보 등록 필요. Kafka 메시지로 처리.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문제  — DB 롤백됐지만 Kafka는 이미 나간 상태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8595360" cy="1280160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73352"/>
            <a:ext cx="841248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createCustomer(request)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customerMapper.insert(customer);     // 1. DB 저장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kafkaTemplate.send("topic", event);  // 2. Kafka 발행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3. 이후 어디선가 예외 발생 → 트랜잭션 롤백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DB는 롤백됐지만 Kafka 메시지는 이미 나간 상태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외부 시스템에 존재하지 않는 계정이 등록되는 데이터 불일치 발생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해결  — 트랜잭션이 성공적으로 커밋된 후에만 Kafka를 발행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227832"/>
            <a:ext cx="8595360" cy="1420000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300984"/>
            <a:ext cx="8412480" cy="13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가입 서비스 — Kafka를 전혀 모른다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createCustomer(request)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... DB에 6개 테이블 저장 ...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eventPublisher.publishEvent(new CustomerCreatedEvent(customerId, referralCode));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"고객이 생성됐다"는 사실만 알림. Kafka 발행은 일어나지 않음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이벤트 리스너 — 트랜잭션 커밋 후에 실행됨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@TransactionalEventListener  // 기본값: AFTER_COMMIT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handleCustomerCreated(CustomerCreatedEvent event)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kafkaTemplate.send("external-account-sync", buildPayload(event));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4670000"/>
            <a:ext cx="8595360" cy="460000"/>
          </a:xfrm>
          <a:prstGeom prst="rect">
            <a:avLst/>
          </a:prstGeom>
          <a:solidFill>
            <a:srgbClr val="0D2A1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670000"/>
            <a:ext cx="8412480" cy="4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 xml:space="preserve">가입 서비스는 Kafka를 모른다.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 xml:space="preserve">연동 대상이 늘어나도 가입 서비스 코드 수정 불필요.  </a:t>
            </a:r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</a:rPr>
              <a:t>단, Kafka 발행이 실패하면 재시도 없음 → 완벽한 신뢰성 필요 시 아웃박스 패턴 필요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사례 3  흐름 정리 — @TransactionalEventListener (AFTER_COMMIT)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841248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[가입 트랜잭션 시작]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DB 저장들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이벤트 발행 (내부 이벤트 — Kafka 아님)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[트랜잭션 커밋 성공] ← 여기까지 완료되어야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→ 이벤트 리스너 실행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→ Kafka 메시지 발행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→ 외부 시스템에 계정 등록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[트랜잭션 롤백 시] → 이벤트 리스너 실행 안 됨 → Kafka 발행 안 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7889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TransactionPhase 옵션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108960"/>
          <a:ext cx="8595360" cy="192024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3566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실행 시점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주요 용도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AFTER_COMMIT (기본)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커밋 성공 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외부 시스템 연동, 알림 발송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AFTER_ROLLBACK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롤백 완료 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외부 상태 정리, 보상 작업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AFTER_COMPLETION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커밋/롤백 무관 항상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락 해제, 임시 리소스 정리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BEFORE_COMMIT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커밋 직전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커밋 전 유효성 검사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사례 4  리소스 생성 실패 시 외부 시스템 정리 — @TransactionalEventListener (AFTER_ROLLBACK)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A2840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49808"/>
            <a:ext cx="685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상황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749808"/>
            <a:ext cx="7680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 xml:space="preserve">외부 리소스 예약 후 DB 저장 순서: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 xml:space="preserve">1) 외부 시스템에 리소스 점유 등록 (즉시 반영)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2) 계약 정보 DB 저장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 xml:space="preserve">문제: 2번에서 예외 → 롤백 → DB에는 기록 없음 + 외부 시스템엔 리소스 점유 중 → </a:t>
            </a:r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좀비 상태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해결  — 롤백 완료 후 자동으로 보상 작업 실행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38528"/>
            <a:ext cx="8595360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11680"/>
            <a:ext cx="841248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@TransactionalEventListener(phase = TransactionPhase.AFTER_ROLLBACK)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handleCreationFail(ResourceCreationFailEvent event)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이 코드가 실행된다 = 리소스 생성 트랜잭션이 롤백됐다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try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externalResourceService.releaseOccupation(event.getResourceId());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log.info("외부 리소스 점유 해제 완료");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 catch (Exception 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// 보상 작업마저 실패하면 자동 복구 불가 → 로그 남기고 운영자 수동 처리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log.error("외부 리소스 해제 실패 — 수동 처리 필요: {}", event.getResourceId());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3931920"/>
            <a:ext cx="85953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핵심 포인트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4297680"/>
            <a:ext cx="8595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 xml:space="preserve">롤백 핸들러에서는 예외를 절대 던지지 않는다.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이미 트랜잭션이 롤백된 상황에서 핸들러가 또 예외를 던지면 원래 예외 정보가 묻힌다. 실패 시엔 로그만 남기고 운영자가 나중에 처리할 수 있도록 한다.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사례 5  외부 시스템의 상품 재고 변경 이벤트 수신 — Kafka Consumer + UPSERT 멱등성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512064"/>
          </a:xfrm>
          <a:prstGeom prst="rect">
            <a:avLst/>
          </a:prstGeom>
          <a:solidFill>
            <a:srgbClr val="1A2840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49808"/>
            <a:ext cx="685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상황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749808"/>
            <a:ext cx="7680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외부 재고 시스템이 상품 재고 변경 사항을 Kafka에 발행. 수신하여 우리 시스템 재고 데이터를 동기화.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메시지가 중복으로 올 수도 있고, 두 가지 이벤트 타입이 같은 토픽으로 섞여 온다.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335024"/>
            <a:ext cx="8595360" cy="2606040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08176"/>
            <a:ext cx="8412480" cy="2459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@KafkaListener(topics = "inventory-change-topic")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listen(String message)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메시지에 담긴 타입 정보로 분기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if (message.contains("STOCK_IN"))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StockInData data = parse(message, StockInData.class);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upsertInventory(data.getItemCode(), data.getQuantity());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 else if (message.contains("STOCK_OUT"))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StockOutData data = parse(message, StockOutData.class);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upsertInventory(data.getItemCode(), 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upsertInventory(String itemCode, int quantity)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있으면 UPDATE, 없으면 INSERT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→ 같은 메시지가 두 번 와도 결과가 동일 (멱등성)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inventoryRepository.upsert(itemCode, quantity);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4005072"/>
            <a:ext cx="85953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09651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핵심 포인트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4352544"/>
            <a:ext cx="8595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 xml:space="preserve">UPSERT가 멱등성의 핵심이다.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 xml:space="preserve">INSERT로 처리하면 중복 시 예외나 데이터 오염이 발생. UPSERT는 몇 번이 오든 최종 상태가 동일하기 때문에 안전하다.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 xml:space="preserve">메시지 타입 분기는 헤더나 별도 type 필드로.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본문 문자열 포함 여부로 타입 구분은 레거시 연동 시 보이는 패턴. 신규 개발 시에는 메시지 헤더나 type 필드를 별도로 두는 것이 더 안전하다.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사례 6  외부 시스템 사용자 정보 변경 이벤트 처리 — 다중 토픽 단일 Consumer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658368"/>
          </a:xfrm>
          <a:prstGeom prst="rect">
            <a:avLst/>
          </a:prstGeom>
          <a:solidFill>
            <a:srgbClr val="1A2840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49808"/>
            <a:ext cx="685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상황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74980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외부 파트너 시스템에서 사용자 정보 변경 이벤트, 계정 설정 변경 이벤트 두 가지가 Kafka로 발행됨.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두 이벤트 모두 우리 시스템 사용자 정보 업데이트 + 정산 시스템 동기화 필요.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8595360" cy="3313672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8412480" cy="324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UserEventConsumer(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private val userService: UserService,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private val billingService: BillingService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토픽 1: 파트너 사용자 정보 변경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@KafkaListener(topics = ["${kafka.user-topic}"])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fun listenUserEvent(record: ConsumerRecord&lt;String, String&gt;)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handleUserChange(record)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토픽 2: 파트너 계정 설정 변경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@KafkaListener(topics = ["${kafka.account-topic}"])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fun listenAccountEvent(record: ConsumerRecord&lt;String, String&gt;)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handleUserChange(record) // 처리 로직을 공유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private fun handleUserChange(record: ConsumerRecord&lt;String, String&gt;)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runBlocking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// 두 서비스를 순서대로 처리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userService.updateUserInfo(parseEvent(record.value()))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billingService.sync(parseEvent(record.value()))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4510000"/>
            <a:ext cx="859536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530000"/>
            <a:ext cx="8595360" cy="6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 xml:space="preserve">관련 토픽은 한 클래스에 모아 응집도를 높인다.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 xml:space="preserve">runBlocking은 처리가 완전히 끝날 때까지 오프셋을 커밋하지 않기 위해 일부러 블로킹. 예외 발생 시 오프셋 미커밋 → 자동 재처리.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Kotlin에서는 @Async 대신 Coroutine을 쓴다.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사례 7  외부 약관 동의 이벤트 처리 — 조건부 소비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658368"/>
          </a:xfrm>
          <a:prstGeom prst="rect">
            <a:avLst/>
          </a:prstGeom>
          <a:solidFill>
            <a:srgbClr val="1A2840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49808"/>
            <a:ext cx="685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상황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74980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외부 서비스가 약관 동의 변경 이벤트를 Kafka로 발행. 여러 도메인이 함께 발행되어 있고 조건에 맞는 이벤트만 처리: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 xml:space="preserve">agreeRequired == true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 xml:space="preserve">AND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serviceType != "INTERNAL" (중복 처리 방지)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5486400" cy="2831672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5303520" cy="2755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@KafkaListener(topics = ["${terms-agreement.topic}"])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 listen(record: ConsumerRecord&lt;String, String&gt;)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val event = objectMapper.readValue(record.value(), TermsAgreementEvent::class.java)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processIfNeeded(event)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 processIfNeeded(event: TermsAgreementEvent) = runBlocking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launch(Dispatchers.IO)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event.takeIf { it.consentRequired == true &amp;&amp; it.serviceType != "INTERNAL"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?.let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try { externalService.update(event)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catch (e: Exception)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  log.error("처리 실패", 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  throw e  // 예외 재던짐 → 재처리 대상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// 조건 불만족 시 → 정상 완료 → 오프셋 커밋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897880" y="1481328"/>
            <a:ext cx="2971800" cy="1234440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1481328"/>
            <a:ext cx="64008" cy="1234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6080760" y="15361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처리 실패 (예외 throw)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80760" y="1847088"/>
            <a:ext cx="26517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오프셋 미커밋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→ 재처리 대상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97880" y="2807208"/>
            <a:ext cx="2971800" cy="1307592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2807208"/>
            <a:ext cx="64008" cy="1307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080760" y="28620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조건 불만족 (예외 없음)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80760" y="3172968"/>
            <a:ext cx="26517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오프셋 커밋 → 건너뜀 (정상)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"처리할 필요가 없는 메시지"이지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"실패한 메시지"가 아니다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325000"/>
            <a:ext cx="85953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345000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두 경로를 명확히 구분해야 불필요한 재처리를 막을 수 있다.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사례 8  대용량 배치 작업을 Kafka로 트리거 — MDC 추적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512064"/>
          </a:xfrm>
          <a:prstGeom prst="rect">
            <a:avLst/>
          </a:prstGeom>
          <a:solidFill>
            <a:srgbClr val="1A2840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49808"/>
            <a:ext cx="685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상황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749808"/>
            <a:ext cx="7680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특정 조건이 충족되면 대규모 배치 작업을 실행해야 한다. 배치 작업은 수십 분이 걸릴 수 있어 HTTP API 호출로는 타임아웃이 난다.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335024"/>
            <a:ext cx="8595360" cy="1380000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08176"/>
            <a:ext cx="8412480" cy="1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[트리거 조건 발생]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[Kafka에 메시지 발행] → "이 배치를 실행해라: {batchId: "job-001"}"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↓ (즉시 응답 반환)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[배치 서버의 Kafka Consumer]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메시지 수신 → 배치 작업 실행 (수십 분 소요 가능) → 완료 (오프셋 커밋)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633472"/>
            <a:ext cx="8595360" cy="1639528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706624"/>
            <a:ext cx="8412480" cy="1563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@KafkaListener(topics = ["batch-trigger-topic"])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 run(@Payload data: Map&lt;String, Any&gt;)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try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val jobId = data["key"] as String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MDC.put("batch-run-id", generateTraceId()) // 이 배치 실행 전체를 추적할 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executeService.execute(jobId)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 catch (e: Exception)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e.printStackTrace()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// 예외를 삼킴 — 자동 재시도보다 로그 확인 후 수동 처리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4279392"/>
            <a:ext cx="4160520" cy="786384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4279392"/>
            <a:ext cx="64008" cy="78638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31596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왜 예외를 삼키는가?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608576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배치 작업 실패 시 자동 재처리 = 동일한 배치가 또 실행될 수 있다. 배치는 부작용(파일 생성, 이메일 발송 등)이 크기 때문에 중복 실행이 더 위험 → 로그에 남기고 사람이 확인 후 수동 재실행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17720" y="4279392"/>
            <a:ext cx="4251960" cy="786384"/>
          </a:xfrm>
          <a:prstGeom prst="rect">
            <a:avLst/>
          </a:prstGeom>
          <a:solidFill>
            <a:srgbClr val="1E2A3F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4279392"/>
            <a:ext cx="64008" cy="78638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43159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MDC로 배치 실행 전체를 추적한다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460857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MDC.put("batch-run-id", traceId) 를 넣으면 이 배치 실행 중 발생하는 모든 로그에 동일한 ID가 붙는다 → 로그 집계 도구에서 ID로 검색하면 배치 실행 전체 흐름을 한눈에 볼 수 있다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비동기 방식 선택 가이드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3950208"/>
          </a:xfrm>
          <a:prstGeom prst="rect">
            <a:avLst/>
          </a:prstGeom>
          <a:solidFill>
            <a:srgbClr val="0D1117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8412480" cy="3803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결과를 바로 받아야 하는가?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Yes → 동기 방식 (필요하면 CompletableFuture)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No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├─ DB 트랜잭션이 성공했을 때만 처리해야 하는가?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│  ├─ 커밋 후 → @TransactionalEventListener (AFTER_COMMIT)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│  └─ 롤백 후 정리 → @TransactionalEventListener (AFTER_ROLLBACK)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├─ 메시지가 절대 유실되면 안 되는가?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│  └─ Yes → 트랜잭션 아웃박스 패턴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├─ 여러 시스템이 같은 이벤트에 반응해야 하는가?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│  └─ Yes → Kafka + Consumer Group 분리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├─ 처리 시간이 너무 길어 타임아웃이 우려되는가?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│  └─ Yes → @Async + 상태 폴링 (또는 Kafka 트리거)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└─ 그 외 단순 백그라운드 작업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└─ @Async + ThreadPoolTaskExecutor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MD 원본 그대로의 의사결정 트리 — 상황에 맞는 패턴을 찾는 출발점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A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정  리</a:t>
            </a:r>
            <a:endParaRPr lang="en-US" sz="1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49808"/>
          <a:ext cx="8595360" cy="3703320"/>
        </p:xfrm>
        <a:graphic>
          <a:graphicData uri="http://schemas.openxmlformats.org/drawingml/2006/table">
            <a:tbl>
              <a:tblPr/>
              <a:tblGrid>
                <a:gridCol w="2606040"/>
                <a:gridCol w="3154680"/>
                <a:gridCol w="2834640"/>
              </a:tblGrid>
              <a:tr h="4629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패턴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핵심 트레이드오프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실무 적용 예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@Async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간단하지만 결과 추적이 어렵다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대용량 CSV 생성 — 상태 폴링으로 보완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@TransactionalEventListener (COMMIT)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원자성 보장, 단 Kafka 실패 재시도 없음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회원 가입 후 외부 시스템 연동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@TransactionalEventListener (ROLLBACK)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보상 작업 자동화, 단 핸들러 실패 시 수동 처리 필요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리소스 생성 실패 시 외부 점유 해제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Kafka Consumer + UPSERT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중복에 안전, 단 순서 보장이 복잡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</a:rPr>
                        <a:t>상품 재고 변경 이벤트 동기화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다중 토픽 단일 Consumer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응집도 높음, 단 토픽이 늘면 클래스가 커짐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사용자/계정 이벤트 처리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Kafka 배치 트리거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타임아웃 없음, 단 실패 추적이 어렵다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대용량 집계 배치 실행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535424"/>
            <a:ext cx="859536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4535424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 xml:space="preserve">결론: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 xml:space="preserve">비동기는 "빠르게 하기 위한 것"이 아니다.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어떤 실패를 허용하고, 어떤 불일치를 허용하지 않을지를 먼저 정의해야 한다.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위 사례들은 모두 그 판단을 코드로 표현한 결과다.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828800"/>
            <a:ext cx="4572000" cy="4572000"/>
          </a:xfrm>
          <a:prstGeom prst="ellipse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감사합니다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292608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06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주니어 백엔드 개발자가 반드시 알아야 할 실무 지식 · 5장 (113~146p)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</a:rPr>
              <a:t>Q &amp; A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2026-03-21T06:43:07Z</dcterms:created>
  <dcterms:modified xsi:type="dcterms:W3CDTF">2026-03-21T06:43:07Z</dcterms:modified>
</cp:coreProperties>
</file>